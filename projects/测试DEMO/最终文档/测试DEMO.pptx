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耗时</c:v>
                </c:pt>
              </c:strCache>
            </c:strRef>
          </c:tx>
          <c:dPt>
            <c:idx val="0"/>
            <c:spPr>
              <a:solidFill>
                <a:srgbClr val="A6A6A6"/>
              </a:solidFill>
            </c:spPr>
          </c:dPt>
          <c:dPt>
            <c:idx val="1"/>
            <c:spPr>
              <a:solidFill>
                <a:srgbClr val="0070C0"/>
              </a:solidFill>
            </c:spPr>
          </c:dPt>
          <c:cat>
            <c:strRef>
              <c:f>Sheet1!$A$2:$A$3</c:f>
              <c:strCache>
                <c:ptCount val="2"/>
                <c:pt idx="0">
                  <c:v>手写/Copilot
(Manual/AI)</c:v>
                </c:pt>
                <c:pt idx="1">
                  <c:v>Claude Code
(AI)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30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F38B00"/>
              </a:solidFill>
            </c:spPr>
          </c:dPt>
          <c:dPt>
            <c:idx val="1"/>
            <c:spPr>
              <a:solidFill>
                <a:srgbClr val="787878"/>
              </a:solidFill>
            </c:spPr>
          </c:dPt>
          <c:cat>
            <c:strRef>
              <c:f>Sheet1!$A$2:$A$3</c:f>
              <c:strCache>
                <c:ptCount val="2"/>
                <c:pt idx="0">
                  <c:v>虚构字段</c:v>
                </c:pt>
                <c:pt idx="1">
                  <c:v>其他错误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Microsoft YaHei"/>
              </a:defRPr>
            </a:pPr>
            <a:r>
              <a:t>简单场景：AI 初显 50% 提效潜力 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案例A —— 标准 ALV 销售订单报表验证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548640"/>
            <a:ext cx="914400" cy="365760"/>
          </a:xfrm>
          <a:prstGeom prst="round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70C0"/>
                </a:solidFill>
              </a:defRPr>
            </a:pPr>
            <a:r>
              <a:t>P1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Microsoft YaHei"/>
              </a:defRPr>
            </a:pPr>
            <a:r>
              <a:t>核心要点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4E79"/>
                </a:solidFill>
                <a:latin typeface="Microsoft YaHei"/>
              </a:rPr>
              <a:t>1. 效率突破: </a:t>
            </a:r>
            <a:r>
              <a:rPr sz="1400">
                <a:solidFill>
                  <a:srgbClr val="333333"/>
                </a:solidFill>
                <a:latin typeface="Microsoft YaHei"/>
              </a:rPr>
              <a:t>Claude Code 仅需 30 分钟完成开发，较手写提效 50%。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3.5500000000000003"/>
            <a:ext cx="4389120" cy="0.0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3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4E79"/>
                </a:solidFill>
                <a:latin typeface="Microsoft YaHei"/>
              </a:rPr>
              <a:t>2. 工具差距: </a:t>
            </a:r>
            <a:r>
              <a:rPr sz="1400">
                <a:solidFill>
                  <a:srgbClr val="333333"/>
                </a:solidFill>
                <a:latin typeface="Microsoft YaHei"/>
              </a:rPr>
              <a:t>GitHub Copilot 耗时与手写持平，且因 SQL 不兼容导致运行崩溃。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97280" y="4.55"/>
            <a:ext cx="4389120" cy="0.0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4E79"/>
                </a:solidFill>
                <a:latin typeface="Microsoft YaHei"/>
              </a:rPr>
              <a:t>3. 交互对比: </a:t>
            </a:r>
            <a:r>
              <a:rPr sz="1400">
                <a:solidFill>
                  <a:srgbClr val="333333"/>
                </a:solidFill>
                <a:latin typeface="Microsoft YaHei"/>
              </a:rPr>
              <a:t>Claude 仅需 2 轮提示即可运行，Copilot 需 5 轮以上人工干预。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" y="5.55"/>
            <a:ext cx="4389120" cy="0.0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5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4E79"/>
                </a:solidFill>
                <a:latin typeface="Microsoft YaHei"/>
              </a:rPr>
              <a:t>4. 核心瓶颈: </a:t>
            </a:r>
            <a:r>
              <a:rPr sz="1400">
                <a:solidFill>
                  <a:srgbClr val="333333"/>
                </a:solidFill>
                <a:latin typeface="Microsoft YaHei"/>
              </a:rPr>
              <a:t>[地址取数逻辑] 与 [过账状态字段] 是 AI 初始生成的共同盲区。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645920"/>
            <a:ext cx="5760720" cy="384048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Microsoft YaHei"/>
              </a:defRPr>
            </a:pPr>
            <a:r>
              <a:t>开发耗时对比 (分钟)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035040" y="2560320"/>
          <a:ext cx="530352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0881360" y="3794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Microsoft YaHei"/>
              </a:defRPr>
            </a:pPr>
            <a:r>
              <a:t>⚠️ 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971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Microsoft YaHei"/>
              </a:defRPr>
            </a:pPr>
            <a:r>
              <a:t>⚡ 30</a:t>
            </a:r>
          </a:p>
        </p:txBody>
      </p:sp>
      <p:sp>
        <p:nvSpPr>
          <p:cNvPr id="22" name="Rounded Rectangular Callout 21"/>
          <p:cNvSpPr/>
          <p:nvPr/>
        </p:nvSpPr>
        <p:spPr>
          <a:xfrm>
            <a:off x="8321040" y="2194560"/>
            <a:ext cx="1463040" cy="548640"/>
          </a:xfrm>
          <a:prstGeom prst="wedgeRoundRectCallout">
            <a:avLst/>
          </a:prstGeom>
          <a:solidFill>
            <a:srgbClr val="E6F0FA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0C0"/>
                </a:solidFill>
                <a:latin typeface="Microsoft YaHei"/>
              </a:defRPr>
            </a:pPr>
            <a:r>
              <a:t>50% 提效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206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D7D31"/>
                </a:solidFill>
                <a:latin typeface="Microsoft YaHei"/>
              </a:defRPr>
            </a:pPr>
            <a:r>
              <a:t>SQL 不兼容/运行崩溃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5669280"/>
            <a:ext cx="5760720" cy="73152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580644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33333"/>
                </a:solidFill>
                <a:latin typeface="Microsoft YaHei"/>
              </a:rPr>
              <a:t>✔️ ⚡ AI 初显 </a:t>
            </a:r>
            <a:r>
              <a:rPr sz="2200" b="1">
                <a:solidFill>
                  <a:srgbClr val="0070C0"/>
                </a:solidFill>
                <a:latin typeface="Microsoft YaHei"/>
              </a:rPr>
              <a:t>50% 提效潜力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中等难度：陷入“幻觉”与语法泥潭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案例B — 采购配额维护（函数组开发）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错误分布饼图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828800" y="2103120"/>
          <a:ext cx="22860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Isosceles Triangle 5"/>
          <p:cNvSpPr/>
          <p:nvPr/>
        </p:nvSpPr>
        <p:spPr>
          <a:xfrm>
            <a:off x="2788920" y="3017520"/>
            <a:ext cx="365760" cy="320040"/>
          </a:xfrm>
          <a:prstGeom prst="triangle">
            <a:avLst/>
          </a:prstGeom>
          <a:noFill/>
          <a:ln w="19050">
            <a:solidFill>
              <a:srgbClr val="F3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8920" y="3063240"/>
            <a:ext cx="365760" cy="320040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>
              <a:defRPr sz="1400" b="1">
                <a:solidFill>
                  <a:srgbClr val="F38B00"/>
                </a:solidFill>
              </a:defRPr>
            </a:pPr>
            <a: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虚构字段</a:t>
            </a:r>
            <a:br/>
            <a:r>
              <a:t>(AI Hallucinations)</a:t>
            </a:r>
          </a:p>
          <a:p>
            <a:pPr>
              <a:defRPr sz="2400" b="1">
                <a:solidFill>
                  <a:srgbClr val="F38B00"/>
                </a:solidFill>
              </a:defRPr>
            </a:pPr>
            <a:r>
              <a:t>50%</a:t>
            </a:r>
          </a:p>
          <a:p>
            <a:pPr>
              <a:defRPr sz="1000">
                <a:solidFill>
                  <a:srgbClr val="AAAAAA"/>
                </a:solidFill>
              </a:defRPr>
            </a:pPr>
            <a:r>
              <a:t>9处核心字段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83464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其他错误</a:t>
            </a:r>
            <a:br/>
            <a:r>
              <a:t>(Other Errors)</a:t>
            </a:r>
          </a:p>
          <a:p>
            <a:pPr algn="r">
              <a:defRPr sz="1000">
                <a:solidFill>
                  <a:srgbClr val="AAAAAA"/>
                </a:solidFill>
              </a:defRPr>
            </a:pPr>
            <a:r>
              <a:t>21个连锁语法错误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3108960"/>
            <a:ext cx="274320" cy="0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23360" y="3108960"/>
            <a:ext cx="274320" cy="0"/>
          </a:xfrm>
          <a:prstGeom prst="line">
            <a:avLst/>
          </a:prstGeom>
          <a:ln>
            <a:solidFill>
              <a:srgbClr val="F38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4754880"/>
            <a:ext cx="5029200" cy="1828800"/>
          </a:xfrm>
          <a:prstGeom prst="roundRect">
            <a:avLst/>
          </a:prstGeom>
          <a:solidFill>
            <a:srgbClr val="383838"/>
          </a:solidFill>
          <a:ln w="12700">
            <a:solidFill>
              <a:srgbClr val="F3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8006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AI 虚构字段 vs SAP 实际字段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20640"/>
            <a:ext cx="2194560" cy="228600"/>
          </a:xfrm>
          <a:prstGeom prst="roundRect">
            <a:avLst/>
          </a:prstGeom>
          <a:solidFill>
            <a:srgbClr val="503C28"/>
          </a:solidFill>
          <a:ln>
            <a:solidFill>
              <a:srgbClr val="F3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38B00"/>
                </a:solidFill>
              </a:defRPr>
            </a:pPr>
            <a:r>
              <a:t>AI 虚构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5120640"/>
            <a:ext cx="2194560" cy="228600"/>
          </a:xfrm>
          <a:prstGeom prst="roundRect">
            <a:avLst/>
          </a:prstGeom>
          <a:solidFill>
            <a:srgbClr val="505050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SAP 实际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F38B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38B00"/>
                </a:solidFill>
              </a:defRPr>
            </a:pPr>
            <a:r>
              <a:t>  Z_QUOTA_QTY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376672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38B00"/>
                </a:solidFill>
              </a:defRPr>
            </a:pPr>
            <a:r>
              <a:t>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5394960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  MENG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376672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32704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F38B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38B00"/>
                </a:solidFill>
              </a:defRPr>
            </a:pPr>
            <a:r>
              <a:t>  Z_SOURCE_VEND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61441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38B00"/>
                </a:solidFill>
              </a:defRPr>
            </a:pPr>
            <a:r>
              <a:t>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5632704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  LIFNR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614416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870448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F38B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38B00"/>
                </a:solidFill>
              </a:defRPr>
            </a:pPr>
            <a:r>
              <a:t>  Z_QUOTA_UNIT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852160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38B00"/>
                </a:solidFill>
              </a:defRPr>
            </a:pPr>
            <a:r>
              <a:t>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0" y="5870448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  MEINS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852160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6108192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F38B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38B00"/>
                </a:solidFill>
              </a:defRPr>
            </a:pPr>
            <a:r>
              <a:t>  Z_VALID_TO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6089904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38B00"/>
                </a:solidFill>
              </a:defRPr>
            </a:pPr>
            <a:r>
              <a:t>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08960" y="6108192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  DATBI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6089904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6345936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F38B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38B00"/>
                </a:solidFill>
              </a:defRPr>
            </a:pPr>
            <a:r>
              <a:t>  Z_QUOTA_TYPE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6327648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38B00"/>
                </a:solidFill>
              </a:defRPr>
            </a:pPr>
            <a:r>
              <a:t>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08960" y="6345936"/>
            <a:ext cx="2194560" cy="201168"/>
          </a:xfrm>
          <a:prstGeom prst="roundRect">
            <a:avLst/>
          </a:prstGeom>
          <a:solidFill>
            <a:srgbClr val="414141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  QUNUM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6327648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1645920"/>
            <a:ext cx="5669280" cy="1005840"/>
          </a:xfrm>
          <a:prstGeom prst="roundRect">
            <a:avLst/>
          </a:prstGeom>
          <a:solidFill>
            <a:srgbClr val="383838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17830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38B00"/>
                </a:solidFill>
              </a:defRPr>
            </a:pPr>
            <a:r>
              <a:t>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173736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概念误导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011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Copilot 完全混淆“配额”与“货源”业务模型，代码完全不可用。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2834640"/>
            <a:ext cx="5669280" cy="1005840"/>
          </a:xfrm>
          <a:prstGeom prst="roundRect">
            <a:avLst/>
          </a:prstGeom>
          <a:solidFill>
            <a:srgbClr val="383838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29718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38B00"/>
                </a:solidFill>
              </a:defRPr>
            </a:pPr>
            <a:r>
              <a:t>🌩️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292608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严重幻觉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200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Claude 虚构 </a:t>
            </a:r>
            <a:r>
              <a:rPr b="1">
                <a:solidFill>
                  <a:srgbClr val="F38B00"/>
                </a:solidFill>
              </a:rPr>
              <a:t>9</a:t>
            </a:r>
            <a:r>
              <a:rPr>
                <a:solidFill>
                  <a:srgbClr val="FFFFFF"/>
                </a:solidFill>
              </a:rPr>
              <a:t> 处核心字段（占比 </a:t>
            </a:r>
            <a:r>
              <a:rPr b="1">
                <a:solidFill>
                  <a:srgbClr val="F38B00"/>
                </a:solidFill>
              </a:rPr>
              <a:t>50%</a:t>
            </a:r>
            <a:r>
              <a:rPr>
                <a:solidFill>
                  <a:srgbClr val="FFFFFF"/>
                </a:solidFill>
              </a:rPr>
              <a:t>），引发 </a:t>
            </a:r>
            <a:r>
              <a:rPr b="1">
                <a:solidFill>
                  <a:srgbClr val="F38B00"/>
                </a:solidFill>
              </a:rPr>
              <a:t>21</a:t>
            </a:r>
            <a:r>
              <a:rPr>
                <a:solidFill>
                  <a:srgbClr val="FFFFFF"/>
                </a:solidFill>
              </a:rPr>
              <a:t> 个连锁语法错误。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0" y="4023360"/>
            <a:ext cx="5669280" cy="1005840"/>
          </a:xfrm>
          <a:prstGeom prst="roundRect">
            <a:avLst/>
          </a:prstGeom>
          <a:solidFill>
            <a:srgbClr val="383838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0" y="41605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38B00"/>
                </a:solidFill>
              </a:defRPr>
            </a:pPr>
            <a:r>
              <a:t>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11480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接口违规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389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AI 无法识别 SAP FM 接口必须使用 DDIC 类型的强制规则。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5212080"/>
            <a:ext cx="5669280" cy="1005840"/>
          </a:xfrm>
          <a:prstGeom prst="roundRect">
            <a:avLst/>
          </a:prstGeom>
          <a:solidFill>
            <a:srgbClr val="383838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0" y="53492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38B00"/>
                </a:solidFill>
              </a:defRPr>
            </a:pPr>
            <a:r>
              <a:t>⏱️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3035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效率停滞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577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修正幻觉字段与重写逻辑的成本已抵消 AI 生成的便利。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AAAA"/>
                </a:solidFill>
              </a:defRPr>
            </a:pPr>
            <a: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icrosoft YaHei"/>
              </a:rPr>
              <a:t>高复杂度：效率反降 </a:t>
            </a:r>
            <a:r>
              <a:rPr sz="3200" b="1">
                <a:solidFill>
                  <a:srgbClr val="E53935"/>
                </a:solidFill>
                <a:latin typeface="Microsoft YaHei"/>
              </a:rPr>
              <a:t>60%</a:t>
            </a:r>
            <a:r>
              <a:rPr sz="3200" b="1">
                <a:solidFill>
                  <a:srgbClr val="FFFFFF"/>
                </a:solidFill>
                <a:latin typeface="Microsoft YaHei"/>
              </a:rPr>
              <a:t> 的修复陷阱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AAAAA"/>
                </a:solidFill>
                <a:latin typeface="Microsoft YaHei"/>
              </a:defRPr>
            </a:pPr>
            <a:r>
              <a:t>案例C — 跨工厂 STO 报表（18+ 关联表）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01168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53935"/>
                </a:solidFill>
              </a:defRPr>
            </a:pPr>
            <a:r>
              <a:t>-60%</a:t>
            </a:r>
          </a:p>
          <a:p>
            <a:pPr algn="ctr">
              <a:defRPr sz="2400" b="1">
                <a:solidFill>
                  <a:srgbClr val="E53935"/>
                </a:solidFill>
              </a:defRPr>
            </a:pPr>
            <a:r>
              <a:t>效率损失</a:t>
            </a:r>
          </a:p>
        </p:txBody>
      </p:sp>
      <p:sp>
        <p:nvSpPr>
          <p:cNvPr id="6" name="Down Arrow 5"/>
          <p:cNvSpPr/>
          <p:nvPr/>
        </p:nvSpPr>
        <p:spPr>
          <a:xfrm rot="18900000">
            <a:off x="5303520" y="3108960"/>
            <a:ext cx="731520" cy="914400"/>
          </a:xfrm>
          <a:prstGeom prst="downArrow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0" y="1645920"/>
            <a:ext cx="4846320" cy="2011680"/>
          </a:xfrm>
          <a:prstGeom prst="roundRect">
            <a:avLst/>
          </a:prstGeom>
          <a:solidFill>
            <a:srgbClr val="2A2D35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AI 修复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194560"/>
            <a:ext cx="4297680" cy="365760"/>
          </a:xfrm>
          <a:prstGeom prst="roundRect">
            <a:avLst/>
          </a:prstGeom>
          <a:solidFill>
            <a:srgbClr val="9E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8 人天 (远超手写)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651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手写开发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017520"/>
            <a:ext cx="2743200" cy="365760"/>
          </a:xfrm>
          <a:prstGeom prst="roundRect">
            <a:avLst/>
          </a:prstGeom>
          <a:solidFill>
            <a:srgbClr val="4A6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0175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5 人天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943600" cy="2560320"/>
          </a:xfrm>
          <a:prstGeom prst="roundRect">
            <a:avLst/>
          </a:prstGeom>
          <a:solidFill>
            <a:srgbClr val="1A1C22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14400" y="4206240"/>
            <a:ext cx="0" cy="1828800"/>
          </a:xfrm>
          <a:prstGeom prst="line">
            <a:avLst/>
          </a:prstGeom>
          <a:ln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" y="6035040"/>
            <a:ext cx="2743200" cy="0"/>
          </a:xfrm>
          <a:prstGeom prst="line">
            <a:avLst/>
          </a:prstGeom>
          <a:ln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4389120"/>
            <a:ext cx="365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AAAAAA"/>
                </a:solidFill>
              </a:defRPr>
            </a:pPr>
            <a:r>
              <a:t>错</a:t>
            </a:r>
          </a:p>
          <a:p>
            <a:r>
              <a:t>误</a:t>
            </a:r>
          </a:p>
          <a:p>
            <a:r>
              <a:t>数</a:t>
            </a:r>
          </a:p>
          <a:p>
            <a:r>
              <a:t>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6126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AAAA"/>
                </a:solidFill>
              </a:defRPr>
            </a:pPr>
            <a:r>
              <a:t>修复迭代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80160" y="5577840"/>
            <a:ext cx="822960" cy="182880"/>
          </a:xfrm>
          <a:prstGeom prst="line">
            <a:avLst/>
          </a:prstGeom>
          <a:ln w="254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03120" y="4572000"/>
            <a:ext cx="1097280" cy="1188720"/>
          </a:xfrm>
          <a:prstGeom prst="line">
            <a:avLst/>
          </a:prstGeom>
          <a:ln w="254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234440" y="5532120"/>
            <a:ext cx="91440" cy="91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57400" y="5715000"/>
            <a:ext cx="91440" cy="91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54680" y="4526280"/>
            <a:ext cx="91440" cy="91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303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4864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2976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 rot="19500000">
            <a:off x="2194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3→2→9</a:t>
            </a:r>
          </a:p>
        </p:txBody>
      </p:sp>
      <p:sp>
        <p:nvSpPr>
          <p:cNvPr id="28" name="Isosceles Triangle 27"/>
          <p:cNvSpPr/>
          <p:nvPr/>
        </p:nvSpPr>
        <p:spPr>
          <a:xfrm>
            <a:off x="3840480" y="4389120"/>
            <a:ext cx="274320" cy="274320"/>
          </a:xfrm>
          <a:prstGeom prst="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60" y="43891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343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修复爆炸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846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错误呈 </a:t>
            </a:r>
            <a:r>
              <a:rPr>
                <a:solidFill>
                  <a:srgbClr val="E53935"/>
                </a:solidFill>
              </a:rPr>
              <a:t>3→2→9</a:t>
            </a:r>
            <a:r>
              <a:t> 非线性增长，前序修正引发后续逻辑大规模崩溃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4114800"/>
            <a:ext cx="731520" cy="731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4023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解析能力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3891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Claude 虽支持文档解析，但在处理 </a:t>
            </a:r>
            <a:r>
              <a:rPr>
                <a:solidFill>
                  <a:srgbClr val="E53935"/>
                </a:solidFill>
              </a:rPr>
              <a:t>10+</a:t>
            </a:r>
            <a:r>
              <a:t> 项虚构数据字典时表现乏力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0" y="5212080"/>
            <a:ext cx="4846320" cy="0"/>
          </a:xfrm>
          <a:prstGeom prst="line">
            <a:avLst/>
          </a:prstGeom>
          <a:ln>
            <a:solidFill>
              <a:srgbClr val="444444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858000" y="5486400"/>
            <a:ext cx="731520" cy="731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5394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实测评价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760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底层数据结构理解缺失，导致“修复成本 &gt; 直接重写”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F8C"/>
                </a:solidFill>
                <a:latin typeface="Microsoft YaHei"/>
              </a:defRPr>
            </a:pPr>
            <a:r>
              <a:t>结论：复杂度决定 AI 的应用边界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SAP ABAP AI Coding 效能总览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943600" cy="5029200"/>
          </a:xfrm>
          <a:prstGeom prst="roundRect">
            <a:avLst/>
          </a:prstGeom>
          <a:noFill/>
          <a:ln w="19050">
            <a:solidFill>
              <a:srgbClr val="FFD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943600" cy="5029200"/>
          </a:xfrm>
          <a:prstGeom prst="roundRect">
            <a:avLst/>
          </a:prstGeom>
          <a:solidFill>
            <a:srgbClr val="152842"/>
          </a:solidFill>
          <a:ln w="12700">
            <a:solidFill>
              <a:srgbClr val="3A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914400" y="1645920"/>
            <a:ext cx="0" cy="4572000"/>
          </a:xfrm>
          <a:prstGeom prst="line">
            <a:avLst/>
          </a:prstGeom>
          <a:ln w="25400">
            <a:solidFill>
              <a:srgbClr val="FFD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" y="6217920"/>
            <a:ext cx="5303520" cy="0"/>
          </a:xfrm>
          <a:prstGeom prst="line">
            <a:avLst/>
          </a:prstGeom>
          <a:ln w="25400">
            <a:solidFill>
              <a:srgbClr val="FFD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16200000">
            <a:off x="182880" y="3657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DF8C"/>
                </a:solidFill>
                <a:latin typeface="Microsoft YaHei"/>
              </a:defRPr>
            </a:pPr>
            <a:r>
              <a:t>提效百分比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DF8C"/>
                </a:solidFill>
                <a:latin typeface="Microsoft YaHei"/>
              </a:defRPr>
            </a:pPr>
            <a:r>
              <a:t>任务复杂度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828800"/>
            <a:ext cx="2377440" cy="2011680"/>
          </a:xfrm>
          <a:prstGeom prst="roundRect">
            <a:avLst/>
          </a:prstGeom>
          <a:solidFill>
            <a:srgbClr val="1C3350"/>
          </a:solidFill>
          <a:ln w="12700">
            <a:solidFill>
              <a:srgbClr val="3A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20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简单场景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0D0D0"/>
                </a:solidFill>
                <a:latin typeface="Segoe UI Symbol"/>
              </a:defRPr>
            </a:pPr>
            <a:r>
              <a:t>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7744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DF8C"/>
                </a:solidFill>
                <a:latin typeface="Microsoft YaHei"/>
              </a:defRPr>
            </a:pPr>
            <a:r>
              <a:t>50% 提效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175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D0D0D0"/>
                </a:solidFill>
                <a:latin typeface="Microsoft YaHei"/>
              </a:defRPr>
            </a:pPr>
            <a:r>
              <a:t>辅助逻辑，高收益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023360"/>
            <a:ext cx="2377440" cy="2011680"/>
          </a:xfrm>
          <a:prstGeom prst="roundRect">
            <a:avLst/>
          </a:prstGeom>
          <a:solidFill>
            <a:srgbClr val="1C3350"/>
          </a:solidFill>
          <a:ln w="12700">
            <a:solidFill>
              <a:srgbClr val="3A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114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中等场景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114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0D0D0"/>
                </a:solidFill>
                <a:latin typeface="Segoe UI Symbol"/>
              </a:defRPr>
            </a:pPr>
            <a:r>
              <a:t>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7200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DF8C"/>
                </a:solidFill>
                <a:latin typeface="Microsoft YaHei"/>
              </a:defRPr>
            </a:pPr>
            <a:r>
              <a:t>无提升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D0D0D0"/>
                </a:solidFill>
                <a:latin typeface="Microsoft YaHei"/>
              </a:defRPr>
            </a:pPr>
            <a:r>
              <a:t>效率持平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1828800"/>
            <a:ext cx="2377440" cy="2011680"/>
          </a:xfrm>
          <a:prstGeom prst="roundRect">
            <a:avLst/>
          </a:prstGeom>
          <a:solidFill>
            <a:srgbClr val="253A45"/>
          </a:solidFill>
          <a:ln w="19050">
            <a:solidFill>
              <a:srgbClr val="FFD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1920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复杂场景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F8C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7744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DF8C"/>
                </a:solidFill>
                <a:latin typeface="Microsoft YaHei"/>
              </a:defRPr>
            </a:pPr>
            <a:r>
              <a:t>工作量激增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0175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D0D0D0"/>
                </a:solidFill>
                <a:latin typeface="Microsoft YaHei"/>
              </a:defRPr>
            </a:pPr>
            <a:r>
              <a:t>效率倒挂，风险高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4023360"/>
            <a:ext cx="2377440" cy="2011680"/>
          </a:xfrm>
          <a:prstGeom prst="roundRect">
            <a:avLst/>
          </a:prstGeom>
          <a:solidFill>
            <a:srgbClr val="1C3350"/>
          </a:solidFill>
          <a:ln w="12700">
            <a:solidFill>
              <a:srgbClr val="3A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0" y="4114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应用禁区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114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0D0D0"/>
                </a:solidFill>
                <a:latin typeface="Segoe UI Symbol"/>
              </a:defRPr>
            </a:pPr>
            <a:r>
              <a:t>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212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D0D0D0"/>
                </a:solidFill>
                <a:latin typeface="Microsoft YaHei"/>
              </a:defRPr>
            </a:pPr>
            <a:r>
              <a:t>不可靠，需人工完全接管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389120"/>
            <a:ext cx="100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500">
                <a:solidFill>
                  <a:srgbClr val="D0D0D0"/>
                </a:solidFill>
                <a:latin typeface="Segoe UI Emoji"/>
              </a:defRPr>
            </a:pPr>
            <a:r>
              <a:t>🔗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0" y="4480560"/>
            <a:ext cx="640080" cy="640080"/>
          </a:xfrm>
          <a:prstGeom prst="line">
            <a:avLst/>
          </a:prstGeom>
          <a:ln w="38100">
            <a:solidFill>
              <a:srgbClr val="FFD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371600" y="2743200"/>
            <a:ext cx="1920240" cy="914400"/>
          </a:xfrm>
          <a:prstGeom prst="curvedConnector3">
            <a:avLst/>
          </a:prstGeom>
          <a:ln w="25400">
            <a:solidFill>
              <a:srgbClr val="FFD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40480" y="2286000"/>
            <a:ext cx="2011680" cy="1371600"/>
          </a:xfrm>
          <a:prstGeom prst="curvedConnector3">
            <a:avLst/>
          </a:prstGeom>
          <a:ln w="25400">
            <a:solidFill>
              <a:srgbClr val="FFD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58000" y="1463040"/>
            <a:ext cx="4846320" cy="1645920"/>
          </a:xfrm>
          <a:prstGeom prst="roundRect">
            <a:avLst/>
          </a:prstGeom>
          <a:solidFill>
            <a:srgbClr val="152842"/>
          </a:solidFill>
          <a:ln w="12700">
            <a:solidFill>
              <a:srgbClr val="3A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15544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DF8C"/>
                </a:solidFill>
                <a:latin typeface="Microsoft YaHei"/>
              </a:defRPr>
            </a:pPr>
            <a:r>
              <a:t>四大瓶颈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☁  数据字典幻觉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🔗  接口规则缺失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📈  修复成本反超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💬  提示词被忽略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3291840"/>
            <a:ext cx="4846320" cy="1645920"/>
          </a:xfrm>
          <a:prstGeom prst="roundRect">
            <a:avLst/>
          </a:prstGeom>
          <a:solidFill>
            <a:srgbClr val="152842"/>
          </a:solidFill>
          <a:ln w="12700">
            <a:solidFill>
              <a:srgbClr val="3A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33832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DF8C"/>
                </a:solidFill>
                <a:latin typeface="Microsoft YaHei"/>
              </a:defRPr>
            </a:pPr>
            <a:r>
              <a:t>工具选型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37490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⚡ Claude Code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4114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☑  业务理解优秀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4480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☑  多文件解析强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37490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🤖 Copilot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4114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☒  业务理解受限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4480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☒  多文件解析弱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49440" y="5212080"/>
            <a:ext cx="4846320" cy="1280160"/>
          </a:xfrm>
          <a:prstGeom prst="roundRect">
            <a:avLst/>
          </a:prstGeom>
          <a:noFill/>
          <a:ln w="19050">
            <a:solidFill>
              <a:srgbClr val="FFD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58000" y="5120640"/>
            <a:ext cx="4846320" cy="1280160"/>
          </a:xfrm>
          <a:prstGeom prst="roundRect">
            <a:avLst/>
          </a:prstGeom>
          <a:solidFill>
            <a:srgbClr val="1C2A35"/>
          </a:solidFill>
          <a:ln w="12700">
            <a:solidFill>
              <a:srgbClr val="3A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40880" y="530352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DF8C"/>
                </a:solidFill>
                <a:latin typeface="Microsoft YaHei"/>
              </a:rPr>
              <a:t>核心建议：</a:t>
            </a:r>
            <a:r>
              <a:rPr sz="1500">
                <a:solidFill>
                  <a:srgbClr val="FFFFFF"/>
                </a:solidFill>
                <a:latin typeface="Microsoft YaHei"/>
              </a:rPr>
              <a:t>当前 AI 尚未具备处理 ABAP 中高难度任务的能力，仅推荐用于</a:t>
            </a:r>
            <a:r>
              <a:rPr sz="1500" b="1">
                <a:solidFill>
                  <a:srgbClr val="FFDF8C"/>
                </a:solidFill>
                <a:latin typeface="Microsoft YaHei"/>
              </a:rPr>
              <a:t>辅助简单逻辑</a:t>
            </a:r>
            <a:r>
              <a:rPr sz="1500">
                <a:solidFill>
                  <a:srgbClr val="FFFFFF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