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icrosoft YaHei"/>
              </a:rPr>
              <a:t>高复杂度：效率反降 </a:t>
            </a:r>
            <a:r>
              <a:rPr sz="3200" b="1">
                <a:solidFill>
                  <a:srgbClr val="E53935"/>
                </a:solidFill>
                <a:latin typeface="Microsoft YaHei"/>
              </a:rPr>
              <a:t>60%</a:t>
            </a:r>
            <a:r>
              <a:rPr sz="3200" b="1">
                <a:solidFill>
                  <a:srgbClr val="FFFFFF"/>
                </a:solidFill>
                <a:latin typeface="Microsoft YaHei"/>
              </a:rPr>
              <a:t> 的修复陷阱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AAAAA"/>
                </a:solidFill>
                <a:latin typeface="Microsoft YaHei"/>
              </a:defRPr>
            </a:pPr>
            <a:r>
              <a:t>案例C — 跨工厂 STO 报表（18+ 关联表）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01168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53935"/>
                </a:solidFill>
              </a:defRPr>
            </a:pPr>
            <a:r>
              <a:t>-60%</a:t>
            </a:r>
          </a:p>
          <a:p>
            <a:pPr algn="ctr">
              <a:defRPr sz="2400" b="1">
                <a:solidFill>
                  <a:srgbClr val="E53935"/>
                </a:solidFill>
              </a:defRPr>
            </a:pPr>
            <a:r>
              <a:t>效率损失</a:t>
            </a:r>
          </a:p>
        </p:txBody>
      </p:sp>
      <p:sp>
        <p:nvSpPr>
          <p:cNvPr id="6" name="Down Arrow 5"/>
          <p:cNvSpPr/>
          <p:nvPr/>
        </p:nvSpPr>
        <p:spPr>
          <a:xfrm rot="18900000">
            <a:off x="5303520" y="3108960"/>
            <a:ext cx="731520" cy="914400"/>
          </a:xfrm>
          <a:prstGeom prst="downArrow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4846320" cy="2011680"/>
          </a:xfrm>
          <a:prstGeom prst="roundRect">
            <a:avLst/>
          </a:prstGeom>
          <a:solidFill>
            <a:srgbClr val="2A2D3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AI 修复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194560"/>
            <a:ext cx="4297680" cy="365760"/>
          </a:xfrm>
          <a:prstGeom prst="roundRect">
            <a:avLst/>
          </a:prstGeom>
          <a:solidFill>
            <a:srgbClr val="9E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8 人天 (远超手写)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651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手写开发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017520"/>
            <a:ext cx="2743200" cy="365760"/>
          </a:xfrm>
          <a:prstGeom prst="roundRect">
            <a:avLst/>
          </a:prstGeom>
          <a:solidFill>
            <a:srgbClr val="4A6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0175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5 人天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943600" cy="2560320"/>
          </a:xfrm>
          <a:prstGeom prst="roundRect">
            <a:avLst/>
          </a:prstGeom>
          <a:solidFill>
            <a:srgbClr val="1A1C22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14400" y="4206240"/>
            <a:ext cx="0" cy="1828800"/>
          </a:xfrm>
          <a:prstGeom prst="line">
            <a:avLst/>
          </a:prstGeom>
          <a:ln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" y="6035040"/>
            <a:ext cx="2743200" cy="0"/>
          </a:xfrm>
          <a:prstGeom prst="line">
            <a:avLst/>
          </a:prstGeom>
          <a:ln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4389120"/>
            <a:ext cx="365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错</a:t>
            </a:r>
          </a:p>
          <a:p>
            <a:r>
              <a:t>误</a:t>
            </a:r>
          </a:p>
          <a:p>
            <a:r>
              <a:t>数</a:t>
            </a:r>
          </a:p>
          <a:p>
            <a:r>
              <a:t>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6126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AAAA"/>
                </a:solidFill>
              </a:defRPr>
            </a:pPr>
            <a:r>
              <a:t>修复迭代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80160" y="5577840"/>
            <a:ext cx="822960" cy="182880"/>
          </a:xfrm>
          <a:prstGeom prst="line">
            <a:avLst/>
          </a:prstGeom>
          <a:ln w="254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03120" y="4572000"/>
            <a:ext cx="1097280" cy="1188720"/>
          </a:xfrm>
          <a:prstGeom prst="line">
            <a:avLst/>
          </a:prstGeom>
          <a:ln w="254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234440" y="5532120"/>
            <a:ext cx="91440" cy="91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57400" y="5715000"/>
            <a:ext cx="91440" cy="91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54680" y="4526280"/>
            <a:ext cx="91440" cy="91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303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4864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2976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 rot="19500000">
            <a:off x="2194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3→2→9</a:t>
            </a:r>
          </a:p>
        </p:txBody>
      </p:sp>
      <p:sp>
        <p:nvSpPr>
          <p:cNvPr id="28" name="Isosceles Triangle 27"/>
          <p:cNvSpPr/>
          <p:nvPr/>
        </p:nvSpPr>
        <p:spPr>
          <a:xfrm>
            <a:off x="3840480" y="4389120"/>
            <a:ext cx="274320" cy="274320"/>
          </a:xfrm>
          <a:prstGeom prst="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43891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343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修复爆炸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846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错误呈 </a:t>
            </a:r>
            <a:r>
              <a:rPr>
                <a:solidFill>
                  <a:srgbClr val="E53935"/>
                </a:solidFill>
              </a:rPr>
              <a:t>3→2→9</a:t>
            </a:r>
            <a:r>
              <a:t> 非线性增长，前序修正引发后续逻辑大规模崩溃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4114800"/>
            <a:ext cx="731520" cy="731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4023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解析能力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3891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Claude 虽支持文档解析，但在处理 </a:t>
            </a:r>
            <a:r>
              <a:rPr>
                <a:solidFill>
                  <a:srgbClr val="E53935"/>
                </a:solidFill>
              </a:rPr>
              <a:t>10+</a:t>
            </a:r>
            <a:r>
              <a:t> 项虚构数据字典时表现乏力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0" y="5212080"/>
            <a:ext cx="4846320" cy="0"/>
          </a:xfrm>
          <a:prstGeom prst="line">
            <a:avLst/>
          </a:prstGeom>
          <a:ln>
            <a:solidFill>
              <a:srgbClr val="444444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858000" y="5486400"/>
            <a:ext cx="731520" cy="731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5394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实测评价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760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底层数据结构理解缺失，导致“修复成本 &gt; 直接重写”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第 3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