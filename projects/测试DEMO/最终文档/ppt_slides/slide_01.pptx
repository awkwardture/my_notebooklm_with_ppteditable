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耗时</c:v>
                </c:pt>
              </c:strCache>
            </c:strRef>
          </c:tx>
          <c:dPt>
            <c:idx val="0"/>
            <c:spPr>
              <a:solidFill>
                <a:srgbClr val="A6A6A6"/>
              </a:solidFill>
            </c:spPr>
          </c:dPt>
          <c:dPt>
            <c:idx val="1"/>
            <c:spPr>
              <a:solidFill>
                <a:srgbClr val="0070C0"/>
              </a:solidFill>
            </c:spPr>
          </c:dPt>
          <c:cat>
            <c:strRef>
              <c:f>Sheet1!$A$2:$A$3</c:f>
              <c:strCache>
                <c:ptCount val="2"/>
                <c:pt idx="0">
                  <c:v>手写/Copilot
(Manual/AI)</c:v>
                </c:pt>
                <c:pt idx="1">
                  <c:v>Claude Code
(AI)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30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Microsoft YaHei"/>
              </a:defRPr>
            </a:pPr>
            <a:r>
              <a:t>简单场景：AI 初显 50% 提效潜力 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  <a:latin typeface="Microsoft YaHei"/>
              </a:defRPr>
            </a:pPr>
            <a:r>
              <a:t>案例A —— 标准 ALV 销售订单报表验证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548640"/>
            <a:ext cx="914400" cy="365760"/>
          </a:xfrm>
          <a:prstGeom prst="round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70C0"/>
                </a:solidFill>
              </a:defRPr>
            </a:pPr>
            <a:r>
              <a:t>P1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Microsoft YaHei"/>
              </a:defRPr>
            </a:pPr>
            <a:r>
              <a:t>核心要点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4E79"/>
                </a:solidFill>
                <a:latin typeface="Microsoft YaHei"/>
              </a:rPr>
              <a:t>1. 效率突破: </a:t>
            </a:r>
            <a:r>
              <a:rPr sz="1400">
                <a:solidFill>
                  <a:srgbClr val="333333"/>
                </a:solidFill>
                <a:latin typeface="Microsoft YaHei"/>
              </a:rPr>
              <a:t>Claude Code 仅需 30 分钟完成开发，较手写提效 50%。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3.5500000000000003"/>
            <a:ext cx="4389120" cy="0.0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3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4E79"/>
                </a:solidFill>
                <a:latin typeface="Microsoft YaHei"/>
              </a:rPr>
              <a:t>2. 工具差距: </a:t>
            </a:r>
            <a:r>
              <a:rPr sz="1400">
                <a:solidFill>
                  <a:srgbClr val="333333"/>
                </a:solidFill>
                <a:latin typeface="Microsoft YaHei"/>
              </a:rPr>
              <a:t>GitHub Copilot 耗时与手写持平，且因 SQL 不兼容导致运行崩溃。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97280" y="4.55"/>
            <a:ext cx="4389120" cy="0.0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4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4E79"/>
                </a:solidFill>
                <a:latin typeface="Microsoft YaHei"/>
              </a:rPr>
              <a:t>3. 交互对比: </a:t>
            </a:r>
            <a:r>
              <a:rPr sz="1400">
                <a:solidFill>
                  <a:srgbClr val="333333"/>
                </a:solidFill>
                <a:latin typeface="Microsoft YaHei"/>
              </a:rPr>
              <a:t>Claude 仅需 2 轮提示即可运行，Copilot 需 5 轮以上人工干预。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" y="5.55"/>
            <a:ext cx="4389120" cy="0.0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5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4E79"/>
                </a:solidFill>
                <a:latin typeface="Microsoft YaHei"/>
              </a:rPr>
              <a:t>4. 核心瓶颈: </a:t>
            </a:r>
            <a:r>
              <a:rPr sz="1400">
                <a:solidFill>
                  <a:srgbClr val="333333"/>
                </a:solidFill>
                <a:latin typeface="Microsoft YaHei"/>
              </a:rPr>
              <a:t>[地址取数逻辑] 与 [过账状态字段] 是 AI 初始生成的共同盲区。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645920"/>
            <a:ext cx="5760720" cy="384048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Microsoft YaHei"/>
              </a:defRPr>
            </a:pPr>
            <a:r>
              <a:t>开发耗时对比 (分钟)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035040" y="2560320"/>
          <a:ext cx="530352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0881360" y="3794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Microsoft YaHei"/>
              </a:defRPr>
            </a:pPr>
            <a:r>
              <a:t>⚠️ 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971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Microsoft YaHei"/>
              </a:defRPr>
            </a:pPr>
            <a:r>
              <a:t>⚡ 30</a:t>
            </a:r>
          </a:p>
        </p:txBody>
      </p:sp>
      <p:sp>
        <p:nvSpPr>
          <p:cNvPr id="22" name="Rounded Rectangular Callout 21"/>
          <p:cNvSpPr/>
          <p:nvPr/>
        </p:nvSpPr>
        <p:spPr>
          <a:xfrm>
            <a:off x="8321040" y="2194560"/>
            <a:ext cx="1463040" cy="548640"/>
          </a:xfrm>
          <a:prstGeom prst="wedgeRoundRectCallout">
            <a:avLst/>
          </a:prstGeom>
          <a:solidFill>
            <a:srgbClr val="E6F0FA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0C0"/>
                </a:solidFill>
                <a:latin typeface="Microsoft YaHei"/>
              </a:defRPr>
            </a:pPr>
            <a:r>
              <a:t>50% 提效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206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D7D31"/>
                </a:solidFill>
                <a:latin typeface="Microsoft YaHei"/>
              </a:defRPr>
            </a:pPr>
            <a:r>
              <a:t>SQL 不兼容/运行崩溃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5669280"/>
            <a:ext cx="5760720" cy="73152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580644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33333"/>
                </a:solidFill>
                <a:latin typeface="Microsoft YaHei"/>
              </a:rPr>
              <a:t>✔️ ⚡ AI 初显 </a:t>
            </a:r>
            <a:r>
              <a:rPr sz="2200" b="1">
                <a:solidFill>
                  <a:srgbClr val="0070C0"/>
                </a:solidFill>
                <a:latin typeface="Microsoft YaHei"/>
              </a:rPr>
              <a:t>50% 提效潜力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