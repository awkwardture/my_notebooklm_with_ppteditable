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dPt>
            <c:idx val="0"/>
            <c:spPr>
              <a:solidFill>
                <a:srgbClr val="F38B00"/>
              </a:solidFill>
            </c:spPr>
          </c:dPt>
          <c:dPt>
            <c:idx val="1"/>
            <c:spPr>
              <a:solidFill>
                <a:srgbClr val="787878"/>
              </a:solidFill>
            </c:spPr>
          </c:dPt>
          <c:cat>
            <c:strRef>
              <c:f>Sheet1!$A$2:$A$3</c:f>
              <c:strCache>
                <c:ptCount val="2"/>
                <c:pt idx="0">
                  <c:v>虚构字段</c:v>
                </c:pt>
                <c:pt idx="1">
                  <c:v>其他错误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50</c:v>
                </c:pt>
                <c:pt idx="1">
                  <c:v>50</c:v>
                </c:pt>
              </c:numCache>
            </c:numRef>
          </c:val>
        </c:ser>
        <c:firstSliceAng val="0"/>
        <c:holeSize val="5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2B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中等难度：陷入“幻觉”与语法泥潭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案例B — 采购配额维护（函数组开发）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164592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错误分布饼图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1828800" y="2103120"/>
          <a:ext cx="2286000" cy="2286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Isosceles Triangle 5"/>
          <p:cNvSpPr/>
          <p:nvPr/>
        </p:nvSpPr>
        <p:spPr>
          <a:xfrm>
            <a:off x="2788920" y="3017520"/>
            <a:ext cx="365760" cy="320040"/>
          </a:xfrm>
          <a:prstGeom prst="triangle">
            <a:avLst/>
          </a:prstGeom>
          <a:noFill/>
          <a:ln w="19050">
            <a:solidFill>
              <a:srgbClr val="F38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88920" y="3063240"/>
            <a:ext cx="365760" cy="320040"/>
          </a:xfrm>
          <a:prstGeom prst="rect">
            <a:avLst/>
          </a:prstGeom>
          <a:noFill/>
        </p:spPr>
        <p:txBody>
          <a:bodyPr wrap="none" tIns="25400">
            <a:spAutoFit/>
          </a:bodyPr>
          <a:lstStyle/>
          <a:p>
            <a:pPr algn="ctr">
              <a:defRPr sz="1400" b="1">
                <a:solidFill>
                  <a:srgbClr val="F38B00"/>
                </a:solidFill>
              </a:defRPr>
            </a:pPr>
            <a:r>
              <a:t>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228600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虚构字段</a:t>
            </a:r>
            <a:br/>
            <a:r>
              <a:t>(AI Hallucinations)</a:t>
            </a:r>
          </a:p>
          <a:p>
            <a:pPr>
              <a:defRPr sz="2400" b="1">
                <a:solidFill>
                  <a:srgbClr val="F38B00"/>
                </a:solidFill>
              </a:defRPr>
            </a:pPr>
            <a:r>
              <a:t>50%</a:t>
            </a:r>
          </a:p>
          <a:p>
            <a:pPr>
              <a:defRPr sz="1000">
                <a:solidFill>
                  <a:srgbClr val="AAAAAA"/>
                </a:solidFill>
              </a:defRPr>
            </a:pPr>
            <a:r>
              <a:t>9处核心字段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283464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FFFFFF"/>
                </a:solidFill>
              </a:defRPr>
            </a:pPr>
            <a:r>
              <a:t>其他错误</a:t>
            </a:r>
            <a:br/>
            <a:r>
              <a:t>(Other Errors)</a:t>
            </a:r>
          </a:p>
          <a:p>
            <a:pPr algn="r">
              <a:defRPr sz="1000">
                <a:solidFill>
                  <a:srgbClr val="AAAAAA"/>
                </a:solidFill>
              </a:defRPr>
            </a:pPr>
            <a:r>
              <a:t>21个连锁语法错误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645920" y="3108960"/>
            <a:ext cx="274320" cy="0"/>
          </a:xfrm>
          <a:prstGeom prst="line">
            <a:avLst/>
          </a:prstGeom>
          <a:ln>
            <a:solidFill>
              <a:srgbClr val="AAAA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023360" y="3108960"/>
            <a:ext cx="274320" cy="0"/>
          </a:xfrm>
          <a:prstGeom prst="line">
            <a:avLst/>
          </a:prstGeom>
          <a:ln>
            <a:solidFill>
              <a:srgbClr val="F38B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57200" y="4754880"/>
            <a:ext cx="5029200" cy="1828800"/>
          </a:xfrm>
          <a:prstGeom prst="roundRect">
            <a:avLst/>
          </a:prstGeom>
          <a:solidFill>
            <a:srgbClr val="383838"/>
          </a:solidFill>
          <a:ln w="12700">
            <a:solidFill>
              <a:srgbClr val="F38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4800600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AI 虚构字段 vs SAP 实际字段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120640"/>
            <a:ext cx="2194560" cy="228600"/>
          </a:xfrm>
          <a:prstGeom prst="roundRect">
            <a:avLst/>
          </a:prstGeom>
          <a:solidFill>
            <a:srgbClr val="503C28"/>
          </a:solidFill>
          <a:ln>
            <a:solidFill>
              <a:srgbClr val="F38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38B00"/>
                </a:solidFill>
              </a:defRPr>
            </a:pPr>
            <a:r>
              <a:t>AI 虚构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108960" y="5120640"/>
            <a:ext cx="2194560" cy="228600"/>
          </a:xfrm>
          <a:prstGeom prst="roundRect">
            <a:avLst/>
          </a:prstGeom>
          <a:solidFill>
            <a:srgbClr val="505050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SAP 实际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5394960"/>
            <a:ext cx="2194560" cy="201168"/>
          </a:xfrm>
          <a:prstGeom prst="roundRect">
            <a:avLst/>
          </a:prstGeom>
          <a:solidFill>
            <a:srgbClr val="414141"/>
          </a:solidFill>
          <a:ln>
            <a:solidFill>
              <a:srgbClr val="F38B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000">
                <a:solidFill>
                  <a:srgbClr val="F38B00"/>
                </a:solidFill>
              </a:defRPr>
            </a:pPr>
            <a:r>
              <a:t>  Z_QUOTA_QTY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0" y="5376672"/>
            <a:ext cx="2743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38B00"/>
                </a:solidFill>
              </a:defRPr>
            </a:pPr>
            <a:r>
              <a:t>⚠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108960" y="5394960"/>
            <a:ext cx="2194560" cy="201168"/>
          </a:xfrm>
          <a:prstGeom prst="roundRect">
            <a:avLst/>
          </a:prstGeom>
          <a:solidFill>
            <a:srgbClr val="414141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000">
                <a:solidFill>
                  <a:srgbClr val="FFFFFF"/>
                </a:solidFill>
              </a:defRPr>
            </a:pPr>
            <a:r>
              <a:t>  MENG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5376672"/>
            <a:ext cx="2743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</a:defRPr>
            </a:pPr>
            <a:r>
              <a:t>✔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5632704"/>
            <a:ext cx="2194560" cy="201168"/>
          </a:xfrm>
          <a:prstGeom prst="roundRect">
            <a:avLst/>
          </a:prstGeom>
          <a:solidFill>
            <a:srgbClr val="414141"/>
          </a:solidFill>
          <a:ln>
            <a:solidFill>
              <a:srgbClr val="F38B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000">
                <a:solidFill>
                  <a:srgbClr val="F38B00"/>
                </a:solidFill>
              </a:defRPr>
            </a:pPr>
            <a:r>
              <a:t>  Z_SOURCE_VEND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60320" y="5614416"/>
            <a:ext cx="2743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38B00"/>
                </a:solidFill>
              </a:defRPr>
            </a:pPr>
            <a:r>
              <a:t>⚠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108960" y="5632704"/>
            <a:ext cx="2194560" cy="201168"/>
          </a:xfrm>
          <a:prstGeom prst="roundRect">
            <a:avLst/>
          </a:prstGeom>
          <a:solidFill>
            <a:srgbClr val="414141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000">
                <a:solidFill>
                  <a:srgbClr val="FFFFFF"/>
                </a:solidFill>
              </a:defRPr>
            </a:pPr>
            <a:r>
              <a:t>  LIFNR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0" y="5614416"/>
            <a:ext cx="2743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</a:defRPr>
            </a:pPr>
            <a:r>
              <a:t>✔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870448"/>
            <a:ext cx="2194560" cy="201168"/>
          </a:xfrm>
          <a:prstGeom prst="roundRect">
            <a:avLst/>
          </a:prstGeom>
          <a:solidFill>
            <a:srgbClr val="414141"/>
          </a:solidFill>
          <a:ln>
            <a:solidFill>
              <a:srgbClr val="F38B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000">
                <a:solidFill>
                  <a:srgbClr val="F38B00"/>
                </a:solidFill>
              </a:defRPr>
            </a:pPr>
            <a:r>
              <a:t>  Z_QUOTA_UNIT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60320" y="5852160"/>
            <a:ext cx="2743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38B00"/>
                </a:solidFill>
              </a:defRPr>
            </a:pPr>
            <a:r>
              <a:t>⚠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108960" y="5870448"/>
            <a:ext cx="2194560" cy="201168"/>
          </a:xfrm>
          <a:prstGeom prst="roundRect">
            <a:avLst/>
          </a:prstGeom>
          <a:solidFill>
            <a:srgbClr val="414141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000">
                <a:solidFill>
                  <a:srgbClr val="FFFFFF"/>
                </a:solidFill>
              </a:defRPr>
            </a:pPr>
            <a:r>
              <a:t>  MEINS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0" y="5852160"/>
            <a:ext cx="2743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</a:defRPr>
            </a:pPr>
            <a:r>
              <a:t>✔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6108192"/>
            <a:ext cx="2194560" cy="201168"/>
          </a:xfrm>
          <a:prstGeom prst="roundRect">
            <a:avLst/>
          </a:prstGeom>
          <a:solidFill>
            <a:srgbClr val="414141"/>
          </a:solidFill>
          <a:ln>
            <a:solidFill>
              <a:srgbClr val="F38B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000">
                <a:solidFill>
                  <a:srgbClr val="F38B00"/>
                </a:solidFill>
              </a:defRPr>
            </a:pPr>
            <a:r>
              <a:t>  Z_VALID_TO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60320" y="6089904"/>
            <a:ext cx="2743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38B00"/>
                </a:solidFill>
              </a:defRPr>
            </a:pPr>
            <a:r>
              <a:t>⚠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108960" y="6108192"/>
            <a:ext cx="2194560" cy="201168"/>
          </a:xfrm>
          <a:prstGeom prst="roundRect">
            <a:avLst/>
          </a:prstGeom>
          <a:solidFill>
            <a:srgbClr val="414141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000">
                <a:solidFill>
                  <a:srgbClr val="FFFFFF"/>
                </a:solidFill>
              </a:defRPr>
            </a:pPr>
            <a:r>
              <a:t>  DATBI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0" y="6089904"/>
            <a:ext cx="2743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</a:defRPr>
            </a:pPr>
            <a:r>
              <a:t>✔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" y="6345936"/>
            <a:ext cx="2194560" cy="201168"/>
          </a:xfrm>
          <a:prstGeom prst="roundRect">
            <a:avLst/>
          </a:prstGeom>
          <a:solidFill>
            <a:srgbClr val="414141"/>
          </a:solidFill>
          <a:ln>
            <a:solidFill>
              <a:srgbClr val="F38B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000">
                <a:solidFill>
                  <a:srgbClr val="F38B00"/>
                </a:solidFill>
              </a:defRPr>
            </a:pPr>
            <a:r>
              <a:t>  Z_QUOTA_TYPE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560320" y="6327648"/>
            <a:ext cx="2743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38B00"/>
                </a:solidFill>
              </a:defRPr>
            </a:pPr>
            <a:r>
              <a:t>⚠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108960" y="6345936"/>
            <a:ext cx="2194560" cy="201168"/>
          </a:xfrm>
          <a:prstGeom prst="roundRect">
            <a:avLst/>
          </a:prstGeom>
          <a:solidFill>
            <a:srgbClr val="414141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000">
                <a:solidFill>
                  <a:srgbClr val="FFFFFF"/>
                </a:solidFill>
              </a:defRPr>
            </a:pPr>
            <a:r>
              <a:t>  QUNUM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0" y="6327648"/>
            <a:ext cx="2743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</a:defRPr>
            </a:pPr>
            <a:r>
              <a:t>✔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943600" y="1645920"/>
            <a:ext cx="5669280" cy="1005840"/>
          </a:xfrm>
          <a:prstGeom prst="roundRect">
            <a:avLst/>
          </a:prstGeom>
          <a:solidFill>
            <a:srgbClr val="383838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35040" y="1783080"/>
            <a:ext cx="731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38B00"/>
                </a:solidFill>
              </a:defRPr>
            </a:pPr>
            <a:r>
              <a:t>🤖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0" y="1737360"/>
            <a:ext cx="4663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概念误导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201168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Copilot 完全混淆“配额”与“货源”业务模型，代码完全不可用。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943600" y="2834640"/>
            <a:ext cx="5669280" cy="1005840"/>
          </a:xfrm>
          <a:prstGeom prst="roundRect">
            <a:avLst/>
          </a:prstGeom>
          <a:solidFill>
            <a:srgbClr val="383838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035040" y="2971800"/>
            <a:ext cx="731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38B00"/>
                </a:solidFill>
              </a:defRPr>
            </a:pPr>
            <a:r>
              <a:t>🌩️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0" y="2926080"/>
            <a:ext cx="4663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严重幻觉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0" y="32004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/>
            </a:pPr>
            <a:r>
              <a:rPr>
                <a:solidFill>
                  <a:srgbClr val="FFFFFF"/>
                </a:solidFill>
              </a:rPr>
              <a:t>Claude 虚构 </a:t>
            </a:r>
            <a:r>
              <a:rPr b="1">
                <a:solidFill>
                  <a:srgbClr val="F38B00"/>
                </a:solidFill>
              </a:rPr>
              <a:t>9</a:t>
            </a:r>
            <a:r>
              <a:rPr>
                <a:solidFill>
                  <a:srgbClr val="FFFFFF"/>
                </a:solidFill>
              </a:rPr>
              <a:t> 处核心字段（占比 </a:t>
            </a:r>
            <a:r>
              <a:rPr b="1">
                <a:solidFill>
                  <a:srgbClr val="F38B00"/>
                </a:solidFill>
              </a:rPr>
              <a:t>50%</a:t>
            </a:r>
            <a:r>
              <a:rPr>
                <a:solidFill>
                  <a:srgbClr val="FFFFFF"/>
                </a:solidFill>
              </a:rPr>
              <a:t>），引发 </a:t>
            </a:r>
            <a:r>
              <a:rPr b="1">
                <a:solidFill>
                  <a:srgbClr val="F38B00"/>
                </a:solidFill>
              </a:rPr>
              <a:t>21</a:t>
            </a:r>
            <a:r>
              <a:rPr>
                <a:solidFill>
                  <a:srgbClr val="FFFFFF"/>
                </a:solidFill>
              </a:rPr>
              <a:t> 个连锁语法错误。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943600" y="4023360"/>
            <a:ext cx="5669280" cy="1005840"/>
          </a:xfrm>
          <a:prstGeom prst="roundRect">
            <a:avLst/>
          </a:prstGeom>
          <a:solidFill>
            <a:srgbClr val="383838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035040" y="4160520"/>
            <a:ext cx="731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38B00"/>
                </a:solidFill>
              </a:defRPr>
            </a:pPr>
            <a:r>
              <a:t>🔒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58000" y="4114800"/>
            <a:ext cx="4663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接口违规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58000" y="438912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AI 无法识别 SAP FM 接口必须使用 DDIC 类型的强制规则。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943600" y="5212080"/>
            <a:ext cx="5669280" cy="1005840"/>
          </a:xfrm>
          <a:prstGeom prst="roundRect">
            <a:avLst/>
          </a:prstGeom>
          <a:solidFill>
            <a:srgbClr val="383838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035040" y="5349240"/>
            <a:ext cx="731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38B00"/>
                </a:solidFill>
              </a:defRPr>
            </a:pPr>
            <a:r>
              <a:t>⏱️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58000" y="5303520"/>
            <a:ext cx="4663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效率停滞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858000" y="557784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修正幻觉字段与重写逻辑的成本已抵消 AI 生成的便利。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430000" y="640080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AAAAAA"/>
                </a:solidFill>
              </a:defRPr>
            </a:pPr>
            <a:r>
              <a:t>2/4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