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F8C"/>
                </a:solidFill>
                <a:latin typeface="Microsoft YaHei"/>
              </a:defRPr>
            </a:pPr>
            <a:r>
              <a:t>结论：复杂度决定 AI 的应用边界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SAP ABAP AI Coding 效能总览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943600" cy="5029200"/>
          </a:xfrm>
          <a:prstGeom prst="roundRect">
            <a:avLst/>
          </a:prstGeom>
          <a:noFill/>
          <a:ln w="19050">
            <a:solidFill>
              <a:srgbClr val="FFD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943600" cy="5029200"/>
          </a:xfrm>
          <a:prstGeom prst="roundRect">
            <a:avLst/>
          </a:prstGeom>
          <a:solidFill>
            <a:srgbClr val="152842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914400" y="1645920"/>
            <a:ext cx="0" cy="4572000"/>
          </a:xfrm>
          <a:prstGeom prst="line">
            <a:avLst/>
          </a:prstGeom>
          <a:ln w="25400">
            <a:solidFill>
              <a:srgbClr val="FFD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6217920"/>
            <a:ext cx="5303520" cy="0"/>
          </a:xfrm>
          <a:prstGeom prst="line">
            <a:avLst/>
          </a:prstGeom>
          <a:ln w="25400">
            <a:solidFill>
              <a:srgbClr val="FFD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182880" y="3657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DF8C"/>
                </a:solidFill>
                <a:latin typeface="Microsoft YaHei"/>
              </a:defRPr>
            </a:pPr>
            <a:r>
              <a:t>提效百分比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DF8C"/>
                </a:solidFill>
                <a:latin typeface="Microsoft YaHei"/>
              </a:defRPr>
            </a:pPr>
            <a:r>
              <a:t>任务复杂度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828800"/>
            <a:ext cx="2377440" cy="2011680"/>
          </a:xfrm>
          <a:prstGeom prst="roundRect">
            <a:avLst/>
          </a:prstGeom>
          <a:solidFill>
            <a:srgbClr val="1C3350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简单场景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0D0D0"/>
                </a:solidFill>
                <a:latin typeface="Segoe UI Symbol"/>
              </a:defRPr>
            </a:pPr>
            <a:r>
              <a:t>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DF8C"/>
                </a:solidFill>
                <a:latin typeface="Microsoft YaHei"/>
              </a:defRPr>
            </a:pPr>
            <a:r>
              <a:t>50% 提效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0D0D0"/>
                </a:solidFill>
                <a:latin typeface="Microsoft YaHei"/>
              </a:defRPr>
            </a:pPr>
            <a:r>
              <a:t>辅助逻辑，高收益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023360"/>
            <a:ext cx="2377440" cy="2011680"/>
          </a:xfrm>
          <a:prstGeom prst="roundRect">
            <a:avLst/>
          </a:prstGeom>
          <a:solidFill>
            <a:srgbClr val="1C3350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中等场景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0D0D0"/>
                </a:solidFill>
                <a:latin typeface="Segoe UI Symbol"/>
              </a:defRPr>
            </a:pPr>
            <a:r>
              <a:t>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DF8C"/>
                </a:solidFill>
                <a:latin typeface="Microsoft YaHei"/>
              </a:defRPr>
            </a:pPr>
            <a:r>
              <a:t>无提升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0D0D0"/>
                </a:solidFill>
                <a:latin typeface="Microsoft YaHei"/>
              </a:defRPr>
            </a:pPr>
            <a:r>
              <a:t>效率持平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1828800"/>
            <a:ext cx="2377440" cy="2011680"/>
          </a:xfrm>
          <a:prstGeom prst="roundRect">
            <a:avLst/>
          </a:prstGeom>
          <a:solidFill>
            <a:srgbClr val="253A45"/>
          </a:solidFill>
          <a:ln w="19050">
            <a:solidFill>
              <a:srgbClr val="FFD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复杂场景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F8C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77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DF8C"/>
                </a:solidFill>
                <a:latin typeface="Microsoft YaHei"/>
              </a:defRPr>
            </a:pPr>
            <a:r>
              <a:t>工作量激增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017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0D0D0"/>
                </a:solidFill>
                <a:latin typeface="Microsoft YaHei"/>
              </a:defRPr>
            </a:pPr>
            <a:r>
              <a:t>效率倒挂，风险高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023360"/>
            <a:ext cx="2377440" cy="2011680"/>
          </a:xfrm>
          <a:prstGeom prst="roundRect">
            <a:avLst/>
          </a:prstGeom>
          <a:solidFill>
            <a:srgbClr val="1C3350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4114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应用禁区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0D0D0"/>
                </a:solidFill>
                <a:latin typeface="Segoe UI Symbol"/>
              </a:defRPr>
            </a:pPr>
            <a:r>
              <a:t>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212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0D0D0"/>
                </a:solidFill>
                <a:latin typeface="Microsoft YaHei"/>
              </a:defRPr>
            </a:pPr>
            <a:r>
              <a:t>不可靠，需人工完全接管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38912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500">
                <a:solidFill>
                  <a:srgbClr val="D0D0D0"/>
                </a:solidFill>
                <a:latin typeface="Segoe UI Emoji"/>
              </a:defRPr>
            </a:pPr>
            <a:r>
              <a:t>🔗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0" y="4480560"/>
            <a:ext cx="640080" cy="640080"/>
          </a:xfrm>
          <a:prstGeom prst="line">
            <a:avLst/>
          </a:prstGeom>
          <a:ln w="38100">
            <a:solidFill>
              <a:srgbClr val="FFD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371600" y="2743200"/>
            <a:ext cx="1920240" cy="914400"/>
          </a:xfrm>
          <a:prstGeom prst="curvedConnector3">
            <a:avLst/>
          </a:prstGeom>
          <a:ln w="25400">
            <a:solidFill>
              <a:srgbClr val="FFD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40480" y="2286000"/>
            <a:ext cx="2011680" cy="1371600"/>
          </a:xfrm>
          <a:prstGeom prst="curvedConnector3">
            <a:avLst/>
          </a:prstGeom>
          <a:ln w="25400">
            <a:solidFill>
              <a:srgbClr val="FFD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58000" y="1463040"/>
            <a:ext cx="4846320" cy="1645920"/>
          </a:xfrm>
          <a:prstGeom prst="roundRect">
            <a:avLst/>
          </a:prstGeom>
          <a:solidFill>
            <a:srgbClr val="152842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F8C"/>
                </a:solidFill>
                <a:latin typeface="Microsoft YaHei"/>
              </a:defRPr>
            </a:pPr>
            <a:r>
              <a:t>四大瓶颈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☁  数据字典幻觉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🔗  接口规则缺失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📈  修复成本反超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💬  提示词被忽略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3291840"/>
            <a:ext cx="4846320" cy="1645920"/>
          </a:xfrm>
          <a:prstGeom prst="roundRect">
            <a:avLst/>
          </a:prstGeom>
          <a:solidFill>
            <a:srgbClr val="152842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3832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F8C"/>
                </a:solidFill>
                <a:latin typeface="Microsoft YaHei"/>
              </a:defRPr>
            </a:pPr>
            <a:r>
              <a:t>工具选型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749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⚡ Claude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114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☑  业务理解优秀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480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☑  多文件解析强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749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🤖 Copilot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114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☒  业务理解受限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4480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☒  多文件解析弱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9440" y="5212080"/>
            <a:ext cx="4846320" cy="1280160"/>
          </a:xfrm>
          <a:prstGeom prst="roundRect">
            <a:avLst/>
          </a:prstGeom>
          <a:noFill/>
          <a:ln w="19050">
            <a:solidFill>
              <a:srgbClr val="FFD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58000" y="5120640"/>
            <a:ext cx="4846320" cy="1280160"/>
          </a:xfrm>
          <a:prstGeom prst="roundRect">
            <a:avLst/>
          </a:prstGeom>
          <a:solidFill>
            <a:srgbClr val="1C2A35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530352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DF8C"/>
                </a:solidFill>
                <a:latin typeface="Microsoft YaHei"/>
              </a:rPr>
              <a:t>核心建议：</a:t>
            </a:r>
            <a:r>
              <a:rPr sz="1500">
                <a:solidFill>
                  <a:srgbClr val="FFFFFF"/>
                </a:solidFill>
                <a:latin typeface="Microsoft YaHei"/>
              </a:rPr>
              <a:t>当前 AI 尚未具备处理 ABAP 中高难度任务的能力，仅推荐用于</a:t>
            </a:r>
            <a:r>
              <a:rPr sz="1500" b="1">
                <a:solidFill>
                  <a:srgbClr val="FFDF8C"/>
                </a:solidFill>
                <a:latin typeface="Microsoft YaHei"/>
              </a:rPr>
              <a:t>辅助简单逻辑</a:t>
            </a:r>
            <a:r>
              <a:rPr sz="150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